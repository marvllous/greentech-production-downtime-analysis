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15"/>
  </p:notesMasterIdLst>
  <p:sldIdLst>
    <p:sldId id="305" r:id="rId2"/>
    <p:sldId id="306" r:id="rId3"/>
    <p:sldId id="283" r:id="rId4"/>
    <p:sldId id="287" r:id="rId5"/>
    <p:sldId id="288" r:id="rId6"/>
    <p:sldId id="292" r:id="rId7"/>
    <p:sldId id="295" r:id="rId8"/>
    <p:sldId id="297" r:id="rId9"/>
    <p:sldId id="299" r:id="rId10"/>
    <p:sldId id="300" r:id="rId11"/>
    <p:sldId id="301" r:id="rId12"/>
    <p:sldId id="302" r:id="rId13"/>
    <p:sldId id="30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77C4A5-2150-4AD9-AA88-63575582F8AE}" v="1" dt="2026-09-07T13:14:18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3696" autoAdjust="0"/>
  </p:normalViewPr>
  <p:slideViewPr>
    <p:cSldViewPr snapToGrid="0">
      <p:cViewPr varScale="1">
        <p:scale>
          <a:sx n="75" d="100"/>
          <a:sy n="75" d="100"/>
        </p:scale>
        <p:origin x="3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C6CDD6"/>
            </a:solidFill>
            <a:ln>
              <a:noFill/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2E6FF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F68-4023-9802-E0A491A5FE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F1B2D"/>
                    </a:solidFill>
                    <a:latin typeface="Century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BioWipe Cleaning Sheets</c:v>
              </c:pt>
              <c:pt idx="1">
                <c:v>EcoWash Liquid Detergent</c:v>
              </c:pt>
              <c:pt idx="2">
                <c:v>GreenFoam Hand Soap</c:v>
              </c:pt>
              <c:pt idx="3">
                <c:v>RePack Recycled Packaging Film</c:v>
              </c:pt>
            </c:strLit>
          </c:cat>
          <c:val>
            <c:numLit>
              <c:formatCode>General</c:formatCode>
              <c:ptCount val="4"/>
              <c:pt idx="0">
                <c:v>204</c:v>
              </c:pt>
              <c:pt idx="1">
                <c:v>173</c:v>
              </c:pt>
              <c:pt idx="2">
                <c:v>323</c:v>
              </c:pt>
              <c:pt idx="3">
                <c:v>185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F68-4023-9802-E0A491A5F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F1B2D"/>
                </a:solidFill>
                <a:latin typeface="Century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C6CDD6"/>
            </a:solidFill>
            <a:ln>
              <a:noFill/>
            </a:ln>
          </c:spPr>
          <c:invertIfNegative val="1"/>
          <c:dPt>
            <c:idx val="9"/>
            <c:invertIfNegative val="1"/>
            <c:bubble3D val="0"/>
            <c:spPr>
              <a:solidFill>
                <a:srgbClr val="2E6FF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BD1-4D1B-97A5-94670BF3E8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F1B2D"/>
                    </a:solidFill>
                    <a:latin typeface="Century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Changeover Delay</c:v>
              </c:pt>
              <c:pt idx="1">
                <c:v>Quality Inspection</c:v>
              </c:pt>
              <c:pt idx="2">
                <c:v>Utilities Failure</c:v>
              </c:pt>
              <c:pt idx="3">
                <c:v>Operator Mistake</c:v>
              </c:pt>
              <c:pt idx="4">
                <c:v>Other</c:v>
              </c:pt>
              <c:pt idx="5">
                <c:v>Safety Lockout</c:v>
              </c:pt>
              <c:pt idx="6">
                <c:v>Machine Breakdown</c:v>
              </c:pt>
              <c:pt idx="7">
                <c:v>Scheduling / Coordination</c:v>
              </c:pt>
              <c:pt idx="8">
                <c:v>Raw Material Shortage</c:v>
              </c:pt>
              <c:pt idx="9">
                <c:v>Cleaning / Sanitation</c:v>
              </c:pt>
            </c:strLit>
          </c:cat>
          <c:val>
            <c:numLit>
              <c:formatCode>General</c:formatCode>
              <c:ptCount val="10"/>
              <c:pt idx="0">
                <c:v>61</c:v>
              </c:pt>
              <c:pt idx="1">
                <c:v>64</c:v>
              </c:pt>
              <c:pt idx="2">
                <c:v>65</c:v>
              </c:pt>
              <c:pt idx="3">
                <c:v>67</c:v>
              </c:pt>
              <c:pt idx="4">
                <c:v>70</c:v>
              </c:pt>
              <c:pt idx="5">
                <c:v>71</c:v>
              </c:pt>
              <c:pt idx="6">
                <c:v>75</c:v>
              </c:pt>
              <c:pt idx="7">
                <c:v>76</c:v>
              </c:pt>
              <c:pt idx="8">
                <c:v>77</c:v>
              </c:pt>
              <c:pt idx="9">
                <c:v>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BD1-4D1B-97A5-94670BF3E8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F1B2D"/>
                </a:solidFill>
                <a:latin typeface="Century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C6CDD6"/>
            </a:solidFill>
            <a:ln>
              <a:noFill/>
            </a:ln>
          </c:spPr>
          <c:invertIfNegative val="1"/>
          <c:dPt>
            <c:idx val="9"/>
            <c:invertIfNegative val="1"/>
            <c:bubble3D val="0"/>
            <c:spPr>
              <a:solidFill>
                <a:srgbClr val="2E6FF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2E7-4367-8ECC-FF5A3D9049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F1B2D"/>
                    </a:solidFill>
                    <a:latin typeface="Century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Sensor / PLC</c:v>
              </c:pt>
              <c:pt idx="1">
                <c:v>Preventive Maintenance</c:v>
              </c:pt>
              <c:pt idx="2">
                <c:v>Packaging Material</c:v>
              </c:pt>
              <c:pt idx="3">
                <c:v>Changeover Delay</c:v>
              </c:pt>
              <c:pt idx="4">
                <c:v>Quality Inspection</c:v>
              </c:pt>
              <c:pt idx="5">
                <c:v>Utilities Failure</c:v>
              </c:pt>
              <c:pt idx="6">
                <c:v>Operator Mistake</c:v>
              </c:pt>
              <c:pt idx="7">
                <c:v>Other</c:v>
              </c:pt>
              <c:pt idx="8">
                <c:v>Safety Lockout</c:v>
              </c:pt>
              <c:pt idx="9">
                <c:v>Machine Breakdown</c:v>
              </c:pt>
            </c:strLit>
          </c:cat>
          <c:val>
            <c:numLit>
              <c:formatCode>General</c:formatCode>
              <c:ptCount val="10"/>
              <c:pt idx="0">
                <c:v>53</c:v>
              </c:pt>
              <c:pt idx="1">
                <c:v>59</c:v>
              </c:pt>
              <c:pt idx="2">
                <c:v>61</c:v>
              </c:pt>
              <c:pt idx="3">
                <c:v>61</c:v>
              </c:pt>
              <c:pt idx="4">
                <c:v>64</c:v>
              </c:pt>
              <c:pt idx="5">
                <c:v>65</c:v>
              </c:pt>
              <c:pt idx="6">
                <c:v>67</c:v>
              </c:pt>
              <c:pt idx="7">
                <c:v>70</c:v>
              </c:pt>
              <c:pt idx="8">
                <c:v>71</c:v>
              </c:pt>
              <c:pt idx="9">
                <c:v>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2E7-4367-8ECC-FF5A3D9049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F1B2D"/>
                </a:solidFill>
                <a:latin typeface="Century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C6CDD6"/>
            </a:solidFill>
            <a:ln>
              <a:noFill/>
            </a:ln>
          </c:spPr>
          <c:invertIfNegative val="1"/>
          <c:dPt>
            <c:idx val="9"/>
            <c:invertIfNegative val="1"/>
            <c:bubble3D val="0"/>
            <c:spPr>
              <a:solidFill>
                <a:srgbClr val="2E6FF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A04-4544-90B7-F32677021B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F1B2D"/>
                    </a:solidFill>
                    <a:latin typeface="Century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Sarah</c:v>
              </c:pt>
              <c:pt idx="1">
                <c:v>John</c:v>
              </c:pt>
              <c:pt idx="2">
                <c:v>Linda</c:v>
              </c:pt>
              <c:pt idx="3">
                <c:v>Sophia</c:v>
              </c:pt>
              <c:pt idx="4">
                <c:v>Alex</c:v>
              </c:pt>
              <c:pt idx="5">
                <c:v>Rita</c:v>
              </c:pt>
              <c:pt idx="6">
                <c:v>Mike</c:v>
              </c:pt>
              <c:pt idx="7">
                <c:v>Emily</c:v>
              </c:pt>
              <c:pt idx="8">
                <c:v>James</c:v>
              </c:pt>
              <c:pt idx="9">
                <c:v>Paul</c:v>
              </c:pt>
            </c:strLit>
          </c:cat>
          <c:val>
            <c:numLit>
              <c:formatCode>General</c:formatCode>
              <c:ptCount val="10"/>
              <c:pt idx="0">
                <c:v>44</c:v>
              </c:pt>
              <c:pt idx="1">
                <c:v>46</c:v>
              </c:pt>
              <c:pt idx="2">
                <c:v>63</c:v>
              </c:pt>
              <c:pt idx="3">
                <c:v>66</c:v>
              </c:pt>
              <c:pt idx="4">
                <c:v>66</c:v>
              </c:pt>
              <c:pt idx="5">
                <c:v>73</c:v>
              </c:pt>
              <c:pt idx="6">
                <c:v>107</c:v>
              </c:pt>
              <c:pt idx="7">
                <c:v>112</c:v>
              </c:pt>
              <c:pt idx="8">
                <c:v>144</c:v>
              </c:pt>
              <c:pt idx="9">
                <c:v>164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8A04-4544-90B7-F32677021B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F1B2D"/>
                </a:solidFill>
                <a:latin typeface="Century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C6CDD6"/>
            </a:solidFill>
            <a:ln>
              <a:noFill/>
            </a:ln>
          </c:spPr>
          <c:invertIfNegative val="1"/>
          <c:dPt>
            <c:idx val="9"/>
            <c:invertIfNegative val="1"/>
            <c:bubble3D val="0"/>
            <c:spPr>
              <a:solidFill>
                <a:srgbClr val="2E6FF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237-4CA7-AEEE-386E6039194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F1B2D"/>
                    </a:solidFill>
                    <a:latin typeface="Century Gothic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0"/>
              <c:pt idx="0">
                <c:v>Mike</c:v>
              </c:pt>
              <c:pt idx="1">
                <c:v>Paul</c:v>
              </c:pt>
              <c:pt idx="2">
                <c:v>John</c:v>
              </c:pt>
              <c:pt idx="3">
                <c:v>Emily</c:v>
              </c:pt>
              <c:pt idx="4">
                <c:v>Sarah</c:v>
              </c:pt>
              <c:pt idx="5">
                <c:v>Alex</c:v>
              </c:pt>
              <c:pt idx="6">
                <c:v>James</c:v>
              </c:pt>
              <c:pt idx="7">
                <c:v>Rita</c:v>
              </c:pt>
              <c:pt idx="8">
                <c:v>Sophia</c:v>
              </c:pt>
              <c:pt idx="9">
                <c:v>Linda</c:v>
              </c:pt>
            </c:strLit>
          </c:cat>
          <c:val>
            <c:numLit>
              <c:formatCode>General</c:formatCode>
              <c:ptCount val="10"/>
              <c:pt idx="0">
                <c:v>47.92</c:v>
              </c:pt>
              <c:pt idx="1">
                <c:v>51.56</c:v>
              </c:pt>
              <c:pt idx="2">
                <c:v>53.85</c:v>
              </c:pt>
              <c:pt idx="3">
                <c:v>54.22</c:v>
              </c:pt>
              <c:pt idx="4">
                <c:v>58.06</c:v>
              </c:pt>
              <c:pt idx="5">
                <c:v>58.82</c:v>
              </c:pt>
              <c:pt idx="6">
                <c:v>58.95</c:v>
              </c:pt>
              <c:pt idx="7">
                <c:v>63.41</c:v>
              </c:pt>
              <c:pt idx="8">
                <c:v>65</c:v>
              </c:pt>
              <c:pt idx="9">
                <c:v>70.73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237-4CA7-AEEE-386E60391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F1B2D"/>
                </a:solidFill>
                <a:latin typeface="Century Gothic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1E67E-9031-4641-AC2A-1EEFF3E7212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03D3A-982F-4B0A-8433-988B3F4CEC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75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03D3A-982F-4B0A-8433-988B3F4CEC0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200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03D3A-982F-4B0A-8433-988B3F4CEC0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958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48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193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368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2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000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97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13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19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58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noramic 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46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553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2458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450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563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584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161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04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6107312-93BC-4B2B-9EF9-108A1C7176A6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9187D-1FA1-4128-97DA-287473A2ED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04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>
          <a:solidFill>
            <a:srgbClr val="0F1B2D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23FB2-FDE3-36AF-F853-9B96C92E3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4000" b="1" dirty="0">
                <a:solidFill>
                  <a:srgbClr val="FFFFFF"/>
                </a:solidFill>
              </a:rPr>
              <a:t>Evaluating Production Bottlenecks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76A8B-FE56-17F0-87E1-F3D708523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GB" sz="1800" dirty="0">
                <a:solidFill>
                  <a:srgbClr val="C6CDD6"/>
                </a:solidFill>
              </a:rPr>
              <a:t>Insights and Recommendations Through Downtime 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E6FF2"/>
          </a:solidFill>
          <a:ln w="9525" cap="rnd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76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1068-5D81-11A8-A23D-28040BD9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3200" b="1" dirty="0">
                <a:solidFill>
                  <a:srgbClr val="0F1B2D"/>
                </a:solidFill>
              </a:rPr>
              <a:t>Key Performance Indicators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995FC1-9CD4-4BC3-B521-8FBABED79FEC}"/>
              </a:ext>
            </a:extLst>
          </p:cNvPr>
          <p:cNvSpPr/>
          <p:nvPr/>
        </p:nvSpPr>
        <p:spPr>
          <a:xfrm>
            <a:off x="508000" y="19685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C607C2-51E2-46E9-AFC4-2D30247879CF}"/>
              </a:ext>
            </a:extLst>
          </p:cNvPr>
          <p:cNvSpPr/>
          <p:nvPr/>
        </p:nvSpPr>
        <p:spPr>
          <a:xfrm>
            <a:off x="4318000" y="19685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66075A-98B1-41A0-9B1C-F6B64AFA0BEB}"/>
              </a:ext>
            </a:extLst>
          </p:cNvPr>
          <p:cNvSpPr/>
          <p:nvPr/>
        </p:nvSpPr>
        <p:spPr>
          <a:xfrm>
            <a:off x="8128000" y="19685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0D2D46-576A-40CB-8B79-034636ED059D}"/>
              </a:ext>
            </a:extLst>
          </p:cNvPr>
          <p:cNvSpPr/>
          <p:nvPr/>
        </p:nvSpPr>
        <p:spPr>
          <a:xfrm>
            <a:off x="508000" y="43180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CA0B09-BBF6-47A0-BB91-E1C0E1E73CD7}"/>
              </a:ext>
            </a:extLst>
          </p:cNvPr>
          <p:cNvSpPr/>
          <p:nvPr/>
        </p:nvSpPr>
        <p:spPr>
          <a:xfrm>
            <a:off x="4318000" y="43180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68ACB4-823A-440E-ABF1-B48D9E776B7C}"/>
              </a:ext>
            </a:extLst>
          </p:cNvPr>
          <p:cNvSpPr/>
          <p:nvPr/>
        </p:nvSpPr>
        <p:spPr>
          <a:xfrm>
            <a:off x="8128000" y="43180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898A6-1C56-4EF3-A907-828F90284289}"/>
              </a:ext>
            </a:extLst>
          </p:cNvPr>
          <p:cNvSpPr txBox="1"/>
          <p:nvPr/>
        </p:nvSpPr>
        <p:spPr>
          <a:xfrm>
            <a:off x="711200" y="21717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200" b="1">
                <a:solidFill>
                  <a:srgbClr val="6B7280"/>
                </a:solidFill>
              </a:rPr>
              <a:t>Batches Produced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1458C-2C8C-49D2-87D6-6FF772C57F80}"/>
              </a:ext>
            </a:extLst>
          </p:cNvPr>
          <p:cNvSpPr txBox="1"/>
          <p:nvPr/>
        </p:nvSpPr>
        <p:spPr>
          <a:xfrm>
            <a:off x="711200" y="2501900"/>
            <a:ext cx="31496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600" b="1">
                <a:solidFill>
                  <a:srgbClr val="2E6FF2"/>
                </a:solidFill>
              </a:rPr>
              <a:t>645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D0DF41-F791-44AF-848F-4F5D4A814F0C}"/>
              </a:ext>
            </a:extLst>
          </p:cNvPr>
          <p:cNvSpPr txBox="1"/>
          <p:nvPr/>
        </p:nvSpPr>
        <p:spPr>
          <a:xfrm>
            <a:off x="711200" y="33401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Total production runs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92F5EB-1FA0-4308-B43C-4E45E9FDD404}"/>
              </a:ext>
            </a:extLst>
          </p:cNvPr>
          <p:cNvSpPr txBox="1"/>
          <p:nvPr/>
        </p:nvSpPr>
        <p:spPr>
          <a:xfrm>
            <a:off x="4521200" y="21717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200" b="1">
                <a:solidFill>
                  <a:srgbClr val="6B7280"/>
                </a:solidFill>
              </a:rPr>
              <a:t>Delayed Batches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0E9ADC-B618-42FE-819C-E12BA83049C9}"/>
              </a:ext>
            </a:extLst>
          </p:cNvPr>
          <p:cNvSpPr txBox="1"/>
          <p:nvPr/>
        </p:nvSpPr>
        <p:spPr>
          <a:xfrm>
            <a:off x="4521200" y="2501900"/>
            <a:ext cx="31496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600" b="1">
                <a:solidFill>
                  <a:srgbClr val="2E6FF2"/>
                </a:solidFill>
              </a:rPr>
              <a:t>363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D0E142-C68D-4D72-AC2F-BEB23303A386}"/>
              </a:ext>
            </a:extLst>
          </p:cNvPr>
          <p:cNvSpPr txBox="1"/>
          <p:nvPr/>
        </p:nvSpPr>
        <p:spPr>
          <a:xfrm>
            <a:off x="4521200" y="33401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Experienced production delays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050E1D-97A9-41E8-96A4-10158A1E737D}"/>
              </a:ext>
            </a:extLst>
          </p:cNvPr>
          <p:cNvSpPr txBox="1"/>
          <p:nvPr/>
        </p:nvSpPr>
        <p:spPr>
          <a:xfrm>
            <a:off x="8331200" y="21717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200" b="1">
                <a:solidFill>
                  <a:srgbClr val="6B7280"/>
                </a:solidFill>
              </a:rPr>
              <a:t>Days Lost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38977-23CC-48AC-BE9F-3DA60D017796}"/>
              </a:ext>
            </a:extLst>
          </p:cNvPr>
          <p:cNvSpPr txBox="1"/>
          <p:nvPr/>
        </p:nvSpPr>
        <p:spPr>
          <a:xfrm>
            <a:off x="8331200" y="2501900"/>
            <a:ext cx="31496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600" b="1">
                <a:solidFill>
                  <a:srgbClr val="2E6FF2"/>
                </a:solidFill>
              </a:rPr>
              <a:t>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C7E86-0546-4DF6-9E52-A80CB869E9AC}"/>
              </a:ext>
            </a:extLst>
          </p:cNvPr>
          <p:cNvSpPr txBox="1"/>
          <p:nvPr/>
        </p:nvSpPr>
        <p:spPr>
          <a:xfrm>
            <a:off x="8331200" y="33401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Total days lost to downtime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C8B1E3-DFE6-4480-8D93-AF787CB7F433}"/>
              </a:ext>
            </a:extLst>
          </p:cNvPr>
          <p:cNvSpPr txBox="1"/>
          <p:nvPr/>
        </p:nvSpPr>
        <p:spPr>
          <a:xfrm>
            <a:off x="711200" y="45212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200" b="1">
                <a:solidFill>
                  <a:srgbClr val="6B7280"/>
                </a:solidFill>
              </a:rPr>
              <a:t>Downtime Factors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1EF2E1-8EAE-410A-A9E5-D45CF9F48CCB}"/>
              </a:ext>
            </a:extLst>
          </p:cNvPr>
          <p:cNvSpPr txBox="1"/>
          <p:nvPr/>
        </p:nvSpPr>
        <p:spPr>
          <a:xfrm>
            <a:off x="711200" y="4851400"/>
            <a:ext cx="31496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600" b="1">
                <a:solidFill>
                  <a:srgbClr val="2E6FF2"/>
                </a:solidFill>
              </a:rPr>
              <a:t>885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86D38F-1682-43CB-B005-983F74BC9AD6}"/>
              </a:ext>
            </a:extLst>
          </p:cNvPr>
          <p:cNvSpPr txBox="1"/>
          <p:nvPr/>
        </p:nvSpPr>
        <p:spPr>
          <a:xfrm>
            <a:off x="711200" y="56896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Total contributing instances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E2B942-C950-495A-9ED7-7A68E83908FE}"/>
              </a:ext>
            </a:extLst>
          </p:cNvPr>
          <p:cNvSpPr txBox="1"/>
          <p:nvPr/>
        </p:nvSpPr>
        <p:spPr>
          <a:xfrm>
            <a:off x="4521200" y="45212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200" b="1">
                <a:solidFill>
                  <a:srgbClr val="6B7280"/>
                </a:solidFill>
              </a:rPr>
              <a:t>Unique 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1292F4-F0D9-415F-883B-E59B1BD3A640}"/>
              </a:ext>
            </a:extLst>
          </p:cNvPr>
          <p:cNvSpPr txBox="1"/>
          <p:nvPr/>
        </p:nvSpPr>
        <p:spPr>
          <a:xfrm>
            <a:off x="4521200" y="4851400"/>
            <a:ext cx="31496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600" b="1" dirty="0">
                <a:solidFill>
                  <a:srgbClr val="2E6FF2"/>
                </a:solidFill>
              </a:rPr>
              <a:t>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5562A1-8912-45DA-9CD0-D83EACA0F37E}"/>
              </a:ext>
            </a:extLst>
          </p:cNvPr>
          <p:cNvSpPr txBox="1"/>
          <p:nvPr/>
        </p:nvSpPr>
        <p:spPr>
          <a:xfrm>
            <a:off x="4521200" y="56896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Distinct downtime causes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F1BEFB-BC2E-4178-9817-139743D48A39}"/>
              </a:ext>
            </a:extLst>
          </p:cNvPr>
          <p:cNvSpPr txBox="1"/>
          <p:nvPr/>
        </p:nvSpPr>
        <p:spPr>
          <a:xfrm>
            <a:off x="8331200" y="4521200"/>
            <a:ext cx="3149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200" b="1">
                <a:solidFill>
                  <a:srgbClr val="6B7280"/>
                </a:solidFill>
              </a:rPr>
              <a:t>Max Factors / Batch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363632-7518-4D9D-86CB-98B34560BF93}"/>
              </a:ext>
            </a:extLst>
          </p:cNvPr>
          <p:cNvSpPr txBox="1"/>
          <p:nvPr/>
        </p:nvSpPr>
        <p:spPr>
          <a:xfrm>
            <a:off x="8331200" y="4851400"/>
            <a:ext cx="31496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3600" b="1">
                <a:solidFill>
                  <a:srgbClr val="2E6FF2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C23FCA-EE61-4740-B73E-831E42EA340E}"/>
              </a:ext>
            </a:extLst>
          </p:cNvPr>
          <p:cNvSpPr txBox="1"/>
          <p:nvPr/>
        </p:nvSpPr>
        <p:spPr>
          <a:xfrm>
            <a:off x="8331200" y="56896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 dirty="0">
                <a:solidFill>
                  <a:srgbClr val="6B7280"/>
                </a:solidFill>
              </a:rPr>
              <a:t>Highest instances in one batch</a:t>
            </a:r>
          </a:p>
        </p:txBody>
      </p:sp>
      <p:pic>
        <p:nvPicPr>
          <p:cNvPr id="28" name="Graphic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0" y="3657600"/>
            <a:ext cx="330200" cy="330200"/>
          </a:xfrm>
          <a:prstGeom prst="rect">
            <a:avLst/>
          </a:prstGeom>
        </p:spPr>
      </p:pic>
      <p:pic>
        <p:nvPicPr>
          <p:cNvPr id="29" name="Graphic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6000" y="3657600"/>
            <a:ext cx="330200" cy="330200"/>
          </a:xfrm>
          <a:prstGeom prst="rect">
            <a:avLst/>
          </a:prstGeom>
        </p:spPr>
      </p:pic>
      <p:pic>
        <p:nvPicPr>
          <p:cNvPr id="30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0" y="3657600"/>
            <a:ext cx="330200" cy="330200"/>
          </a:xfrm>
          <a:prstGeom prst="rect">
            <a:avLst/>
          </a:prstGeom>
        </p:spPr>
      </p:pic>
      <p:pic>
        <p:nvPicPr>
          <p:cNvPr id="31" name="Graphic 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000" y="6007100"/>
            <a:ext cx="330200" cy="330200"/>
          </a:xfrm>
          <a:prstGeom prst="rect">
            <a:avLst/>
          </a:prstGeom>
        </p:spPr>
      </p:pic>
      <p:pic>
        <p:nvPicPr>
          <p:cNvPr id="32" name="Graphic 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000" y="6007100"/>
            <a:ext cx="330200" cy="330200"/>
          </a:xfrm>
          <a:prstGeom prst="rect">
            <a:avLst/>
          </a:prstGeom>
        </p:spPr>
      </p:pic>
      <p:pic>
        <p:nvPicPr>
          <p:cNvPr id="33" name="Graphic 33" descr="Unique factor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6000" y="60071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8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432D-8DBE-88B6-0E68-CD1017DF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0F1B2D"/>
                </a:solidFill>
              </a:rPr>
              <a:t>Product Downtime Frequency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D422-9E6B-942D-3033-E9FC8E7D970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3302000"/>
            <a:ext cx="5080000" cy="25400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1600" dirty="0">
                <a:solidFill>
                  <a:srgbClr val="374151"/>
                </a:solidFill>
              </a:rPr>
              <a:t>Eco-Cleaning Supplies see more downtime than Recyclable Packaging. </a:t>
            </a:r>
            <a:r>
              <a:rPr lang="en-GB" sz="1600" b="1" dirty="0">
                <a:solidFill>
                  <a:srgbClr val="374151"/>
                </a:solidFill>
              </a:rPr>
              <a:t>GreenFoam Hand Soap</a:t>
            </a:r>
            <a:r>
              <a:rPr lang="en-GB" sz="1600" dirty="0">
                <a:solidFill>
                  <a:srgbClr val="374151"/>
                </a:solidFill>
              </a:rPr>
              <a:t> had the most downtimes of any product, driven mainly by raw material shortages and machine breakdowns.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="5969000" y="1300000"/>
          <a:ext cx="558800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B95635-1E39-4629-BFAF-CA22DF115816}"/>
              </a:ext>
            </a:extLst>
          </p:cNvPr>
          <p:cNvSpPr txBox="1"/>
          <p:nvPr/>
        </p:nvSpPr>
        <p:spPr>
          <a:xfrm>
            <a:off x="5969000" y="11684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6B7280"/>
                </a:solidFill>
              </a:rPr>
              <a:t>Downtime factor frequency by product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D7F97-0DB1-4CD1-A3F7-06FDDCDBEE7C}"/>
              </a:ext>
            </a:extLst>
          </p:cNvPr>
          <p:cNvSpPr txBox="1"/>
          <p:nvPr/>
        </p:nvSpPr>
        <p:spPr>
          <a:xfrm>
            <a:off x="5969000" y="38100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6B7280"/>
                </a:solidFill>
              </a:rPr>
              <a:t>Frequency of downtime factors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="5969000" y="3900000"/>
          <a:ext cx="5588000" cy="26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3930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8A58-A70C-121A-6880-9E911E30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0F1B2D"/>
                </a:solidFill>
              </a:rPr>
              <a:t>Root Cause of Downtime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E4F4BC-7CF6-45C5-8E98-B2AE2825D876}"/>
              </a:ext>
            </a:extLst>
          </p:cNvPr>
          <p:cNvSpPr/>
          <p:nvPr/>
        </p:nvSpPr>
        <p:spPr>
          <a:xfrm>
            <a:off x="762000" y="2222500"/>
            <a:ext cx="5080000" cy="38100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13C410-0BEC-4802-9FC0-4995BFC9AB2C}"/>
              </a:ext>
            </a:extLst>
          </p:cNvPr>
          <p:cNvSpPr/>
          <p:nvPr/>
        </p:nvSpPr>
        <p:spPr>
          <a:xfrm>
            <a:off x="6350000" y="2222500"/>
            <a:ext cx="5080000" cy="38100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4A0B0-F685-422D-9444-76CEAD2FC1E2}"/>
              </a:ext>
            </a:extLst>
          </p:cNvPr>
          <p:cNvSpPr txBox="1"/>
          <p:nvPr/>
        </p:nvSpPr>
        <p:spPr>
          <a:xfrm>
            <a:off x="1143000" y="3048000"/>
            <a:ext cx="4318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4800" b="1" dirty="0">
                <a:solidFill>
                  <a:srgbClr val="2E6FF2"/>
                </a:solidFill>
              </a:rPr>
              <a:t>69%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AFB89E-C8FF-4AF4-9CFC-04A4C589A55A}"/>
              </a:ext>
            </a:extLst>
          </p:cNvPr>
          <p:cNvSpPr txBox="1"/>
          <p:nvPr/>
        </p:nvSpPr>
        <p:spPr>
          <a:xfrm>
            <a:off x="1143000" y="40005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0F1B2D"/>
                </a:solidFill>
              </a:rPr>
              <a:t>Non-Operator Factors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527EA5-5C8A-4E9E-9B05-5B698466C59F}"/>
              </a:ext>
            </a:extLst>
          </p:cNvPr>
          <p:cNvSpPr txBox="1"/>
          <p:nvPr/>
        </p:nvSpPr>
        <p:spPr>
          <a:xfrm>
            <a:off x="1270000" y="4635500"/>
            <a:ext cx="4064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300">
                <a:solidFill>
                  <a:srgbClr val="6B7280"/>
                </a:solidFill>
              </a:rPr>
              <a:t>Mainly cleaning and sanitation, raw material shortages, and machine breakdowns.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649C4-A5CD-47C7-9082-4FFA9685B8D1}"/>
              </a:ext>
            </a:extLst>
          </p:cNvPr>
          <p:cNvSpPr txBox="1"/>
          <p:nvPr/>
        </p:nvSpPr>
        <p:spPr>
          <a:xfrm>
            <a:off x="6731000" y="3048000"/>
            <a:ext cx="4318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4800" b="1">
                <a:solidFill>
                  <a:srgbClr val="6B7280"/>
                </a:solidFill>
              </a:rPr>
              <a:t>31%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25D8F-DCC1-4E7C-93F2-71AC194B6B9D}"/>
              </a:ext>
            </a:extLst>
          </p:cNvPr>
          <p:cNvSpPr txBox="1"/>
          <p:nvPr/>
        </p:nvSpPr>
        <p:spPr>
          <a:xfrm>
            <a:off x="6731000" y="40005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b="1">
                <a:solidFill>
                  <a:srgbClr val="0F1B2D"/>
                </a:solidFill>
              </a:rPr>
              <a:t>Operator Factors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334FF-A478-47B4-A602-7B0DD6685742}"/>
              </a:ext>
            </a:extLst>
          </p:cNvPr>
          <p:cNvSpPr txBox="1"/>
          <p:nvPr/>
        </p:nvSpPr>
        <p:spPr>
          <a:xfrm>
            <a:off x="6858000" y="4635500"/>
            <a:ext cx="40640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300">
                <a:solidFill>
                  <a:srgbClr val="6B7280"/>
                </a:solidFill>
              </a:rPr>
              <a:t>Mostly scheduling and coordination delays.</a:t>
            </a:r>
          </a:p>
        </p:txBody>
      </p:sp>
      <p:pic>
        <p:nvPicPr>
          <p:cNvPr id="11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3400" y="2603500"/>
            <a:ext cx="355600" cy="355600"/>
          </a:xfrm>
          <a:prstGeom prst="rect">
            <a:avLst/>
          </a:prstGeom>
        </p:spPr>
      </p:pic>
      <p:pic>
        <p:nvPicPr>
          <p:cNvPr id="12" name="Graphic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200" y="2603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1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49C5-5FA9-70A1-0B38-C3F6D312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0F1B2D"/>
                </a:solidFill>
              </a:rPr>
              <a:t>Downtime Trends (March–August 2025)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F45CD-64CB-487D-8777-879933A0DB68}"/>
              </a:ext>
            </a:extLst>
          </p:cNvPr>
          <p:cNvSpPr txBox="1"/>
          <p:nvPr/>
        </p:nvSpPr>
        <p:spPr>
          <a:xfrm>
            <a:off x="647700" y="1498600"/>
            <a:ext cx="9410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>
                <a:solidFill>
                  <a:srgbClr val="6B7280"/>
                </a:solidFill>
              </a:rPr>
              <a:t>Most downtimes occurred in April and August, with the least in March.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68DD30-B506-496E-85A8-21687276D22B}"/>
              </a:ext>
            </a:extLst>
          </p:cNvPr>
          <p:cNvSpPr/>
          <p:nvPr/>
        </p:nvSpPr>
        <p:spPr>
          <a:xfrm>
            <a:off x="1143000" y="4064000"/>
            <a:ext cx="9906000" cy="50800"/>
          </a:xfrm>
          <a:prstGeom prst="rect">
            <a:avLst/>
          </a:prstGeom>
          <a:solidFill>
            <a:srgbClr val="C6CDD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231A1A-8817-4EF1-B56F-65C6BE817C99}"/>
              </a:ext>
            </a:extLst>
          </p:cNvPr>
          <p:cNvSpPr/>
          <p:nvPr/>
        </p:nvSpPr>
        <p:spPr>
          <a:xfrm>
            <a:off x="1676400" y="3987800"/>
            <a:ext cx="203200" cy="203200"/>
          </a:xfrm>
          <a:prstGeom prst="ellipse">
            <a:avLst/>
          </a:prstGeom>
          <a:solidFill>
            <a:srgbClr val="2E6FF2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0FAFF-2A82-4E4F-9F5D-69C48A561F8B}"/>
              </a:ext>
            </a:extLst>
          </p:cNvPr>
          <p:cNvSpPr txBox="1"/>
          <p:nvPr/>
        </p:nvSpPr>
        <p:spPr>
          <a:xfrm>
            <a:off x="635000" y="29210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0F1B2D"/>
                </a:solidFill>
              </a:rPr>
              <a:t>March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3BFCE-AECE-458C-885A-7CFA5A233F25}"/>
              </a:ext>
            </a:extLst>
          </p:cNvPr>
          <p:cNvSpPr txBox="1"/>
          <p:nvPr/>
        </p:nvSpPr>
        <p:spPr>
          <a:xfrm>
            <a:off x="508000" y="33020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Lowest downtime of the period.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A65CD8-CE30-4067-B3D9-6FE445892675}"/>
              </a:ext>
            </a:extLst>
          </p:cNvPr>
          <p:cNvSpPr/>
          <p:nvPr/>
        </p:nvSpPr>
        <p:spPr>
          <a:xfrm>
            <a:off x="4635500" y="3987800"/>
            <a:ext cx="203200" cy="203200"/>
          </a:xfrm>
          <a:prstGeom prst="ellipse">
            <a:avLst/>
          </a:prstGeom>
          <a:solidFill>
            <a:srgbClr val="2E6FF2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80A190-106A-448A-9539-05FAEBAF8082}"/>
              </a:ext>
            </a:extLst>
          </p:cNvPr>
          <p:cNvSpPr txBox="1"/>
          <p:nvPr/>
        </p:nvSpPr>
        <p:spPr>
          <a:xfrm>
            <a:off x="3594100" y="45720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0F1B2D"/>
                </a:solidFill>
              </a:rPr>
              <a:t>April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A8EDE-490D-4D99-A27C-E13BB417C6C0}"/>
              </a:ext>
            </a:extLst>
          </p:cNvPr>
          <p:cNvSpPr txBox="1"/>
          <p:nvPr/>
        </p:nvSpPr>
        <p:spPr>
          <a:xfrm>
            <a:off x="3467100" y="49276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Large spike, driven by GreenFoam Hand Soap and RePack Recycled Packaging Film.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228591-E321-40BE-B713-01D1C9EE2155}"/>
              </a:ext>
            </a:extLst>
          </p:cNvPr>
          <p:cNvSpPr/>
          <p:nvPr/>
        </p:nvSpPr>
        <p:spPr>
          <a:xfrm>
            <a:off x="7594600" y="3987800"/>
            <a:ext cx="203200" cy="203200"/>
          </a:xfrm>
          <a:prstGeom prst="ellipse">
            <a:avLst/>
          </a:prstGeom>
          <a:solidFill>
            <a:srgbClr val="2E6FF2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09C820-807E-4B86-86E4-83CD6A21BCFD}"/>
              </a:ext>
            </a:extLst>
          </p:cNvPr>
          <p:cNvSpPr txBox="1"/>
          <p:nvPr/>
        </p:nvSpPr>
        <p:spPr>
          <a:xfrm>
            <a:off x="6553200" y="29210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0F1B2D"/>
                </a:solidFill>
              </a:rPr>
              <a:t>April–July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B17AD-4707-40B0-8816-A738B4E8A38C}"/>
              </a:ext>
            </a:extLst>
          </p:cNvPr>
          <p:cNvSpPr txBox="1"/>
          <p:nvPr/>
        </p:nvSpPr>
        <p:spPr>
          <a:xfrm>
            <a:off x="6426200" y="33020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Downward trend, though BioWipe Cleaning Sheets downtime kept rising.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BD231E-2813-41D9-82B5-A87B99C94E27}"/>
              </a:ext>
            </a:extLst>
          </p:cNvPr>
          <p:cNvSpPr/>
          <p:nvPr/>
        </p:nvSpPr>
        <p:spPr>
          <a:xfrm>
            <a:off x="10566400" y="3987800"/>
            <a:ext cx="203200" cy="203200"/>
          </a:xfrm>
          <a:prstGeom prst="ellipse">
            <a:avLst/>
          </a:prstGeom>
          <a:solidFill>
            <a:srgbClr val="2E6FF2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AC7444-6DAA-4DDE-8F5F-AD96DC258BFB}"/>
              </a:ext>
            </a:extLst>
          </p:cNvPr>
          <p:cNvSpPr txBox="1"/>
          <p:nvPr/>
        </p:nvSpPr>
        <p:spPr>
          <a:xfrm>
            <a:off x="9525000" y="45720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0F1B2D"/>
                </a:solidFill>
              </a:rPr>
              <a:t>August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0F50F3-E96E-4740-8D7A-6E4DF3B04D86}"/>
              </a:ext>
            </a:extLst>
          </p:cNvPr>
          <p:cNvSpPr txBox="1"/>
          <p:nvPr/>
        </p:nvSpPr>
        <p:spPr>
          <a:xfrm>
            <a:off x="9398000" y="49276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High downtime again.</a:t>
            </a:r>
          </a:p>
        </p:txBody>
      </p:sp>
    </p:spTree>
    <p:extLst>
      <p:ext uri="{BB962C8B-B14F-4D97-AF65-F5344CB8AC3E}">
        <p14:creationId xmlns:p14="http://schemas.microsoft.com/office/powerpoint/2010/main" val="412378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500E-11BD-6A55-F957-8EE9222D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0F1B2D"/>
                </a:solidFill>
              </a:rPr>
              <a:t>Consistent Downtime 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94B15-0577-53BF-AC17-25070532070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540000"/>
            <a:ext cx="4826000" cy="4064000"/>
          </a:xfrm>
        </p:spPr>
        <p:txBody>
          <a:bodyPr>
            <a:normAutofit/>
          </a:bodyPr>
          <a:lstStyle/>
          <a:p>
            <a:pPr marL="0" indent="0">
              <a:spcBef>
                <a:spcPts val="2400"/>
              </a:spcBef>
              <a:buNone/>
            </a:pPr>
            <a:r>
              <a:rPr lang="en-GB" sz="2200" b="1" dirty="0">
                <a:solidFill>
                  <a:srgbClr val="2E6FF2"/>
                </a:solidFill>
              </a:rPr>
              <a:t>01  </a:t>
            </a:r>
            <a:r>
              <a:rPr lang="en-GB" sz="2000" b="1" dirty="0">
                <a:solidFill>
                  <a:srgbClr val="0F1B2D"/>
                </a:solidFill>
              </a:rPr>
              <a:t>Cleaning / Sanitation Cycle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GB" sz="2200" b="1" dirty="0">
                <a:solidFill>
                  <a:srgbClr val="2E6FF2"/>
                </a:solidFill>
              </a:rPr>
              <a:t>02  </a:t>
            </a:r>
            <a:r>
              <a:rPr lang="en-GB" sz="2000" b="1" dirty="0">
                <a:solidFill>
                  <a:srgbClr val="0F1B2D"/>
                </a:solidFill>
              </a:rPr>
              <a:t>Raw Material Shortage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GB" sz="2200" b="1" dirty="0">
                <a:solidFill>
                  <a:srgbClr val="2E6FF2"/>
                </a:solidFill>
              </a:rPr>
              <a:t>03  </a:t>
            </a:r>
            <a:r>
              <a:rPr lang="en-GB" sz="2000" b="1" dirty="0">
                <a:solidFill>
                  <a:srgbClr val="0F1B2D"/>
                </a:solidFill>
              </a:rPr>
              <a:t>Scheduling / Coordination Delay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GB" sz="2200" b="1" dirty="0">
                <a:solidFill>
                  <a:srgbClr val="2E6FF2"/>
                </a:solidFill>
              </a:rPr>
              <a:t>04  </a:t>
            </a:r>
            <a:r>
              <a:rPr lang="en-GB" sz="2000" b="1" dirty="0">
                <a:solidFill>
                  <a:srgbClr val="0F1B2D"/>
                </a:solidFill>
              </a:rPr>
              <a:t>Machine Breakdown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="5600000" y="1950000"/>
          <a:ext cx="61000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60A6F2-C50E-4D00-B8CC-3E0FF24D9E90}"/>
              </a:ext>
            </a:extLst>
          </p:cNvPr>
          <p:cNvSpPr txBox="1"/>
          <p:nvPr/>
        </p:nvSpPr>
        <p:spPr>
          <a:xfrm>
            <a:off x="5600700" y="18415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6B7280"/>
                </a:solidFill>
              </a:rPr>
              <a:t>Frequency of downtime factors, count of instances</a:t>
            </a:r>
          </a:p>
        </p:txBody>
      </p:sp>
    </p:spTree>
    <p:extLst>
      <p:ext uri="{BB962C8B-B14F-4D97-AF65-F5344CB8AC3E}">
        <p14:creationId xmlns:p14="http://schemas.microsoft.com/office/powerpoint/2010/main" val="1745134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F1A3-3A48-93B5-A6D9-044C42D4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0F1B2D"/>
                </a:solidFill>
              </a:rPr>
              <a:t>Most Downtimes by Operator</a:t>
            </a:r>
          </a:p>
        </p:txBody>
      </p:sp>
      <p:graphicFrame>
        <p:nvGraphicFramePr>
          <p:cNvPr id="3" name="Chart"/>
          <p:cNvGraphicFramePr/>
          <p:nvPr>
            <p:extLst>
              <p:ext uri="{D42A27DB-BD31-4B8C-83A1-F6EECF244321}">
                <p14:modId xmlns:p14="http://schemas.microsoft.com/office/powerpoint/2010/main" val="2226590347"/>
              </p:ext>
            </p:extLst>
          </p:nvPr>
        </p:nvGraphicFramePr>
        <p:xfrm>
          <a:off x="685800" y="2067499"/>
          <a:ext cx="4400000" cy="3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"/>
          <p:cNvGraphicFramePr/>
          <p:nvPr>
            <p:extLst>
              <p:ext uri="{D42A27DB-BD31-4B8C-83A1-F6EECF244321}">
                <p14:modId xmlns:p14="http://schemas.microsoft.com/office/powerpoint/2010/main" val="2103608709"/>
              </p:ext>
            </p:extLst>
          </p:nvPr>
        </p:nvGraphicFramePr>
        <p:xfrm>
          <a:off x="5250000" y="2067499"/>
          <a:ext cx="4400000" cy="3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C9FCEC-91E5-47F2-B984-C41C0ED4EB51}"/>
              </a:ext>
            </a:extLst>
          </p:cNvPr>
          <p:cNvSpPr txBox="1"/>
          <p:nvPr/>
        </p:nvSpPr>
        <p:spPr>
          <a:xfrm>
            <a:off x="685800" y="18415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6B7280"/>
                </a:solidFill>
              </a:rPr>
              <a:t>Downtime frequency by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8AE14-2410-414C-B8DC-55C7286D8F86}"/>
              </a:ext>
            </a:extLst>
          </p:cNvPr>
          <p:cNvSpPr txBox="1"/>
          <p:nvPr/>
        </p:nvSpPr>
        <p:spPr>
          <a:xfrm>
            <a:off x="5245100" y="18415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6B7280"/>
                </a:solidFill>
              </a:rPr>
              <a:t>Delayed batches, % of batches run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42E87-4A71-4079-8D00-A80580584721}"/>
              </a:ext>
            </a:extLst>
          </p:cNvPr>
          <p:cNvSpPr txBox="1"/>
          <p:nvPr/>
        </p:nvSpPr>
        <p:spPr>
          <a:xfrm>
            <a:off x="685800" y="5842000"/>
            <a:ext cx="108204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300">
                <a:solidFill>
                  <a:srgbClr val="6B7280"/>
                </a:solidFill>
              </a:rPr>
              <a:t>Major factors: safety lockout/emergency stop, machine breakdown, scheduling and coordination delays, cleaning/sanitation, and raw material shortages.</a:t>
            </a:r>
          </a:p>
        </p:txBody>
      </p:sp>
    </p:spTree>
    <p:extLst>
      <p:ext uri="{BB962C8B-B14F-4D97-AF65-F5344CB8AC3E}">
        <p14:creationId xmlns:p14="http://schemas.microsoft.com/office/powerpoint/2010/main" val="375339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AEDC1-A59C-DBF4-7CB9-9E2750F2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0F1B2D"/>
                </a:solidFill>
              </a:rPr>
              <a:t>Downtime Impact: Time Lost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70B5E-B80D-8051-6EFB-9ECE12E51B2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159000"/>
            <a:ext cx="6350000" cy="41910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700" b="1" dirty="0">
                <a:solidFill>
                  <a:srgbClr val="0F1B2D"/>
                </a:solidFill>
              </a:rPr>
              <a:t>Frequency drives cost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500" dirty="0">
                <a:solidFill>
                  <a:srgbClr val="6B7280"/>
                </a:solidFill>
              </a:rPr>
              <a:t>Downtime frequency directly correlates with total time lost.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GB" sz="1700" b="1" dirty="0">
                <a:solidFill>
                  <a:srgbClr val="0F1B2D"/>
                </a:solidFill>
              </a:rPr>
              <a:t>Primary causes of lost time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500" dirty="0">
                <a:solidFill>
                  <a:srgbClr val="6B7280"/>
                </a:solidFill>
              </a:rPr>
              <a:t>Cleaning / sanitation, scheduling / coordination delays, and raw material shortage.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GB" sz="1700" b="1" dirty="0">
                <a:solidFill>
                  <a:srgbClr val="0F1B2D"/>
                </a:solidFill>
              </a:rPr>
              <a:t>Most time lost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GB" sz="1500" dirty="0">
                <a:solidFill>
                  <a:srgbClr val="6B7280"/>
                </a:solidFill>
              </a:rPr>
              <a:t>Paul, James and Emily experienced the most time wasted due to downtime.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7F9CDB2-3CDF-42D3-89B1-9B4621AD3A44}"/>
              </a:ext>
            </a:extLst>
          </p:cNvPr>
          <p:cNvSpPr/>
          <p:nvPr/>
        </p:nvSpPr>
        <p:spPr>
          <a:xfrm>
            <a:off x="8128000" y="2222500"/>
            <a:ext cx="3302000" cy="3302000"/>
          </a:xfrm>
          <a:prstGeom prst="ellipse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5" name="Graphic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0" y="2984500"/>
            <a:ext cx="17780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59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1C9E8-6BE9-5622-A949-4F4CC82D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800" b="1" dirty="0">
                <a:solidFill>
                  <a:srgbClr val="0F1B2D"/>
                </a:solidFill>
              </a:rPr>
              <a:t>Scheduling Gaps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F293A-95A4-916D-3BFE-36619117F78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413000"/>
            <a:ext cx="6350000" cy="3556000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GB" sz="1700" dirty="0">
                <a:solidFill>
                  <a:srgbClr val="1F2937"/>
                </a:solidFill>
              </a:rPr>
              <a:t>The analysis revealed gaps in how operators are scheduled for leading batch production.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GB" sz="1700" dirty="0">
                <a:solidFill>
                  <a:srgbClr val="1F2937"/>
                </a:solidFill>
              </a:rPr>
              <a:t>Running two or more different products concurrently can be a significant cause of downtime.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274AE12-D3AD-4F68-8859-B4F5EEE7732E}"/>
              </a:ext>
            </a:extLst>
          </p:cNvPr>
          <p:cNvSpPr/>
          <p:nvPr/>
        </p:nvSpPr>
        <p:spPr>
          <a:xfrm>
            <a:off x="8128000" y="2222500"/>
            <a:ext cx="3302000" cy="3302000"/>
          </a:xfrm>
          <a:prstGeom prst="ellipse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>
              <a:solidFill>
                <a:srgbClr val="EEF2F6"/>
              </a:solidFill>
            </a:endParaRPr>
          </a:p>
        </p:txBody>
      </p:sp>
      <p:pic>
        <p:nvPicPr>
          <p:cNvPr id="5" name="Graphic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0" y="2984500"/>
            <a:ext cx="17780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CB15-EF3C-6CE8-0699-B6DC9FAF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3200" b="1" dirty="0">
                <a:solidFill>
                  <a:srgbClr val="0F1B2D"/>
                </a:solidFill>
              </a:rPr>
              <a:t>Recommendations for Improvement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314152-E96B-4935-A4EF-886528DF4713}"/>
              </a:ext>
            </a:extLst>
          </p:cNvPr>
          <p:cNvSpPr/>
          <p:nvPr/>
        </p:nvSpPr>
        <p:spPr>
          <a:xfrm>
            <a:off x="508000" y="19685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2CD69E-B73B-44E8-B6C4-D25C932AFC1A}"/>
              </a:ext>
            </a:extLst>
          </p:cNvPr>
          <p:cNvSpPr/>
          <p:nvPr/>
        </p:nvSpPr>
        <p:spPr>
          <a:xfrm>
            <a:off x="4318000" y="19685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389970-DD6B-4A3D-984F-340162B2174D}"/>
              </a:ext>
            </a:extLst>
          </p:cNvPr>
          <p:cNvSpPr/>
          <p:nvPr/>
        </p:nvSpPr>
        <p:spPr>
          <a:xfrm>
            <a:off x="8128000" y="19685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B4A1BD-33D7-40D0-9641-8FD8783B2851}"/>
              </a:ext>
            </a:extLst>
          </p:cNvPr>
          <p:cNvSpPr/>
          <p:nvPr/>
        </p:nvSpPr>
        <p:spPr>
          <a:xfrm>
            <a:off x="508000" y="43180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598723-A529-4946-9591-D99DF9A4F44A}"/>
              </a:ext>
            </a:extLst>
          </p:cNvPr>
          <p:cNvSpPr/>
          <p:nvPr/>
        </p:nvSpPr>
        <p:spPr>
          <a:xfrm>
            <a:off x="4318000" y="43180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FEDF82-935E-438A-8E77-3A0D0A55F550}"/>
              </a:ext>
            </a:extLst>
          </p:cNvPr>
          <p:cNvSpPr/>
          <p:nvPr/>
        </p:nvSpPr>
        <p:spPr>
          <a:xfrm>
            <a:off x="8128000" y="4318000"/>
            <a:ext cx="3556000" cy="2095500"/>
          </a:xfrm>
          <a:prstGeom prst="roundRect">
            <a:avLst/>
          </a:prstGeom>
          <a:solidFill>
            <a:srgbClr val="EEF2F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DAB96-6893-4234-BBDE-500EFCB3CB5A}"/>
              </a:ext>
            </a:extLst>
          </p:cNvPr>
          <p:cNvSpPr txBox="1"/>
          <p:nvPr/>
        </p:nvSpPr>
        <p:spPr>
          <a:xfrm>
            <a:off x="711200" y="21463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2E6FF2"/>
                </a:solidFill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B0D19-4D16-4080-847D-8F5A5EFBFEE1}"/>
              </a:ext>
            </a:extLst>
          </p:cNvPr>
          <p:cNvSpPr txBox="1"/>
          <p:nvPr/>
        </p:nvSpPr>
        <p:spPr>
          <a:xfrm>
            <a:off x="711200" y="25273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0F1B2D"/>
                </a:solidFill>
              </a:rPr>
              <a:t>Supply Chain &amp; Cleaning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3C4AAD-C104-48AE-A6DF-4D22149E02E3}"/>
              </a:ext>
            </a:extLst>
          </p:cNvPr>
          <p:cNvSpPr txBox="1"/>
          <p:nvPr/>
        </p:nvSpPr>
        <p:spPr>
          <a:xfrm>
            <a:off x="711200" y="3086100"/>
            <a:ext cx="31496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Improve supply chain coordination and cleaning procedures to prevent delays.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29D23-E565-4D6F-9849-92034A4359EA}"/>
              </a:ext>
            </a:extLst>
          </p:cNvPr>
          <p:cNvSpPr txBox="1"/>
          <p:nvPr/>
        </p:nvSpPr>
        <p:spPr>
          <a:xfrm>
            <a:off x="4521200" y="21463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2E6FF2"/>
                </a:solidFill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C8614-71F0-4EC5-87FA-9FC51CB770E1}"/>
              </a:ext>
            </a:extLst>
          </p:cNvPr>
          <p:cNvSpPr txBox="1"/>
          <p:nvPr/>
        </p:nvSpPr>
        <p:spPr>
          <a:xfrm>
            <a:off x="4521200" y="25273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0F1B2D"/>
                </a:solidFill>
              </a:rPr>
              <a:t>Inventory &amp; Alerts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51909B-6B3A-4D83-A2D0-D08CACBA80DD}"/>
              </a:ext>
            </a:extLst>
          </p:cNvPr>
          <p:cNvSpPr txBox="1"/>
          <p:nvPr/>
        </p:nvSpPr>
        <p:spPr>
          <a:xfrm>
            <a:off x="4521200" y="3086100"/>
            <a:ext cx="31496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Introduce real-time inventory tracking and automated low raw-material alerts.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F6EB05-477F-44F5-9230-9E3AA200B573}"/>
              </a:ext>
            </a:extLst>
          </p:cNvPr>
          <p:cNvSpPr txBox="1"/>
          <p:nvPr/>
        </p:nvSpPr>
        <p:spPr>
          <a:xfrm>
            <a:off x="8331200" y="21463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2E6FF2"/>
                </a:solidFill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541169-5291-4BAA-A89F-3D4B3DA50243}"/>
              </a:ext>
            </a:extLst>
          </p:cNvPr>
          <p:cNvSpPr txBox="1"/>
          <p:nvPr/>
        </p:nvSpPr>
        <p:spPr>
          <a:xfrm>
            <a:off x="8331200" y="25273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0F1B2D"/>
                </a:solidFill>
              </a:rPr>
              <a:t>Preventive Maintenance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FDB6E6-D3C7-4505-A763-885375A47C33}"/>
              </a:ext>
            </a:extLst>
          </p:cNvPr>
          <p:cNvSpPr txBox="1"/>
          <p:nvPr/>
        </p:nvSpPr>
        <p:spPr>
          <a:xfrm>
            <a:off x="8331200" y="3086100"/>
            <a:ext cx="31496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Schedule maintenance for high-downtime machines.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309722-1658-4116-A86D-BB0F0651F706}"/>
              </a:ext>
            </a:extLst>
          </p:cNvPr>
          <p:cNvSpPr txBox="1"/>
          <p:nvPr/>
        </p:nvSpPr>
        <p:spPr>
          <a:xfrm>
            <a:off x="711200" y="44958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2E6FF2"/>
                </a:solidFill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618055-74AA-40F8-9ED9-CB59D655BAC8}"/>
              </a:ext>
            </a:extLst>
          </p:cNvPr>
          <p:cNvSpPr txBox="1"/>
          <p:nvPr/>
        </p:nvSpPr>
        <p:spPr>
          <a:xfrm>
            <a:off x="711200" y="48768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0F1B2D"/>
                </a:solidFill>
              </a:rPr>
              <a:t>Batch Scheduling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48E6CF-DE75-4597-800C-FB67EBAB0730}"/>
              </a:ext>
            </a:extLst>
          </p:cNvPr>
          <p:cNvSpPr txBox="1"/>
          <p:nvPr/>
        </p:nvSpPr>
        <p:spPr>
          <a:xfrm>
            <a:off x="711200" y="5435600"/>
            <a:ext cx="31496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Implement better tools and production sequencing rules to avoid overlaps.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6368F1-C809-4BB7-AE27-AB4C4C99BEDF}"/>
              </a:ext>
            </a:extLst>
          </p:cNvPr>
          <p:cNvSpPr txBox="1"/>
          <p:nvPr/>
        </p:nvSpPr>
        <p:spPr>
          <a:xfrm>
            <a:off x="4521200" y="44958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2E6FF2"/>
                </a:solidFill>
              </a:rPr>
              <a:t>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FD9D25-703F-490D-989A-4D5DE698FFE7}"/>
              </a:ext>
            </a:extLst>
          </p:cNvPr>
          <p:cNvSpPr txBox="1"/>
          <p:nvPr/>
        </p:nvSpPr>
        <p:spPr>
          <a:xfrm>
            <a:off x="4521200" y="48768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0F1B2D"/>
                </a:solidFill>
              </a:rPr>
              <a:t>Operator Training &amp; Workload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34363B-C601-4FDA-A9BB-B8BB5D3626EC}"/>
              </a:ext>
            </a:extLst>
          </p:cNvPr>
          <p:cNvSpPr txBox="1"/>
          <p:nvPr/>
        </p:nvSpPr>
        <p:spPr>
          <a:xfrm>
            <a:off x="4521200" y="5435600"/>
            <a:ext cx="31496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Provide targeted training and review workload allocation for lead operators.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05A864-0B07-41C7-BBD6-177A78604B35}"/>
              </a:ext>
            </a:extLst>
          </p:cNvPr>
          <p:cNvSpPr txBox="1"/>
          <p:nvPr/>
        </p:nvSpPr>
        <p:spPr>
          <a:xfrm>
            <a:off x="8331200" y="4495800"/>
            <a:ext cx="635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600" b="1">
                <a:solidFill>
                  <a:srgbClr val="2E6FF2"/>
                </a:solidFill>
              </a:rPr>
              <a:t>06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5AEB20-5E52-4D99-81FE-1614D5505F37}"/>
              </a:ext>
            </a:extLst>
          </p:cNvPr>
          <p:cNvSpPr txBox="1"/>
          <p:nvPr/>
        </p:nvSpPr>
        <p:spPr>
          <a:xfrm>
            <a:off x="8331200" y="4876800"/>
            <a:ext cx="3149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500" b="1">
                <a:solidFill>
                  <a:srgbClr val="0F1B2D"/>
                </a:solidFill>
              </a:rPr>
              <a:t>Downtime Reviews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970746-9BFE-4DFE-B202-7142D0AD0C43}"/>
              </a:ext>
            </a:extLst>
          </p:cNvPr>
          <p:cNvSpPr txBox="1"/>
          <p:nvPr/>
        </p:nvSpPr>
        <p:spPr>
          <a:xfrm>
            <a:off x="8331200" y="5435600"/>
            <a:ext cx="31496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>
                <a:solidFill>
                  <a:srgbClr val="6B7280"/>
                </a:solidFill>
              </a:rPr>
              <a:t>Implement reviews and early-warning systems for proactive action.</a:t>
            </a:r>
          </a:p>
        </p:txBody>
      </p:sp>
    </p:spTree>
    <p:extLst>
      <p:ext uri="{BB962C8B-B14F-4D97-AF65-F5344CB8AC3E}">
        <p14:creationId xmlns:p14="http://schemas.microsoft.com/office/powerpoint/2010/main" val="2054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2713-C633-0026-3D94-694EEE70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400" b="1" dirty="0">
                <a:solidFill>
                  <a:srgbClr val="0F1B2D"/>
                </a:solidFill>
              </a:rPr>
              <a:t>Appendix: Downtime Factor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59DF79-EDF7-3970-E759-7CB891163E9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349375"/>
            <a:ext cx="100679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0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B998-51B1-8C14-0CA6-F917250B2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400" b="1" dirty="0">
                <a:solidFill>
                  <a:srgbClr val="0F1B2D"/>
                </a:solidFill>
              </a:rPr>
              <a:t>Appendix: Downtime Duration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39DD1A-668A-77A0-A741-BA1B19A4E47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0" y="1306513"/>
            <a:ext cx="9728200" cy="493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72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45EDE-36C8-A756-56F7-2AC942A0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GB" sz="2400" b="1" dirty="0">
                <a:solidFill>
                  <a:srgbClr val="0F1B2D"/>
                </a:solidFill>
              </a:rPr>
              <a:t>Appendix: Operator Scheduling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72F3EC-79C4-866F-452C-B151239782C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152525"/>
            <a:ext cx="10213975" cy="525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931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[1788799774492]">
  <a:themeElements>
    <a:clrScheme name="Ion">
      <a:dk1>
        <a:srgbClr val="0F1B2D"/>
      </a:dk1>
      <a:lt1>
        <a:srgbClr val="FFFFFF"/>
      </a:lt1>
      <a:dk2>
        <a:srgbClr val="14213D"/>
      </a:dk2>
      <a:lt2>
        <a:srgbClr val="EEF2F6"/>
      </a:lt2>
      <a:accent1>
        <a:srgbClr val="2E6FF2"/>
      </a:accent1>
      <a:accent2>
        <a:srgbClr val="00B3A4"/>
      </a:accent2>
      <a:accent3>
        <a:srgbClr val="F5A623"/>
      </a:accent3>
      <a:accent4>
        <a:srgbClr val="6B7280"/>
      </a:accent4>
      <a:accent5>
        <a:srgbClr val="8892A0"/>
      </a:accent5>
      <a:accent6>
        <a:srgbClr val="C6CDD6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1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5885122-F3BB-4B2A-B04D-6CFD62487B01}">
  <we:reference id="wa200010725" version="1.0.0.1" store="en-GB" storeType="OMEX"/>
  <we:alternateReferences>
    <we:reference id="wa200010725" version="1.0.0.1" store="wa200010725" storeType="OMEX"/>
  </we:alternateReferences>
  <we:properties>
    <we:property name="claude.fileId" value="&quot;3e1d9c5e-6e30-448f-b01c-1fe656eb893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1356</TotalTime>
  <Words>444</Words>
  <Application>Microsoft Office PowerPoint</Application>
  <PresentationFormat>Widescreen</PresentationFormat>
  <Paragraphs>86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Century Gothic</vt:lpstr>
      <vt:lpstr>Wingdings 3</vt:lpstr>
      <vt:lpstr>Ion [1788799774492]</vt:lpstr>
      <vt:lpstr>Evaluating Production Bottlenecks</vt:lpstr>
      <vt:lpstr>Key Performance Indicators</vt:lpstr>
      <vt:lpstr>Product Downtime Frequency</vt:lpstr>
      <vt:lpstr>Root Cause of Downtime</vt:lpstr>
      <vt:lpstr>Downtime Trends (March–August 2025)</vt:lpstr>
      <vt:lpstr>Consistent Downtime Causes</vt:lpstr>
      <vt:lpstr>Most Downtimes by Operator</vt:lpstr>
      <vt:lpstr>Downtime Impact: Time Lost</vt:lpstr>
      <vt:lpstr>Scheduling Gaps Identified</vt:lpstr>
      <vt:lpstr>Recommendations for Improvement</vt:lpstr>
      <vt:lpstr>Appendix: Downtime Factor Overview</vt:lpstr>
      <vt:lpstr>Appendix: Downtime Duration Analysis</vt:lpstr>
      <vt:lpstr>Appendix: Operator Scheduling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Marvellous Umeilechukwu</dc:creator>
  <cp:lastModifiedBy>Marvellous Umeilechukwu</cp:lastModifiedBy>
  <cp:revision>8</cp:revision>
  <dcterms:created xsi:type="dcterms:W3CDTF">2026-03-16T22:29:06Z</dcterms:created>
  <dcterms:modified xsi:type="dcterms:W3CDTF">2026-09-07T16:57:30Z</dcterms:modified>
</cp:coreProperties>
</file>